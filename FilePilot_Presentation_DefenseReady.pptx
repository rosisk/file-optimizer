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  <p:sldMasterId id="2147483710" r:id="rId2"/>
  </p:sldMasterIdLst>
  <p:notesMasterIdLst>
    <p:notesMasterId r:id="rId24"/>
  </p:notesMasterIdLst>
  <p:sldIdLst>
    <p:sldId id="257" r:id="rId3"/>
    <p:sldId id="258" r:id="rId4"/>
    <p:sldId id="260" r:id="rId5"/>
    <p:sldId id="263" r:id="rId6"/>
    <p:sldId id="264" r:id="rId7"/>
    <p:sldId id="269" r:id="rId8"/>
    <p:sldId id="265" r:id="rId9"/>
    <p:sldId id="259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67" r:id="rId18"/>
    <p:sldId id="266" r:id="rId19"/>
    <p:sldId id="262" r:id="rId20"/>
    <p:sldId id="271" r:id="rId21"/>
    <p:sldId id="270" r:id="rId22"/>
    <p:sldId id="26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14EDCC-62F1-49E6-837B-D272908C9A5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8E7BCE-6F26-477C-9EE4-1B6C28247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54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4023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c7443eff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c7443eff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7807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c7443eff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c7443eff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3806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c7443eff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c7443eff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2380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c7443eff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c7443eff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6335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c7443eff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c7443eff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72304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c7443eff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c7443eff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29125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c7443eff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c7443eff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20890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c7443eff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c7443eff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25160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c7443eff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c7443eff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15450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c7443eff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c7443eff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5351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c7443eff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c7443eff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61943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c7443eff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c7443eff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30261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c7443eff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c7443eff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92758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c7443eff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c7443eff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379628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c7443eff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c7443eff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97450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c7443eff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c7443eff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83064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c7443eff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c7443eff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6653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c7443eff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c7443eff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31555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c7443eff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c7443eff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67641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0" name="Google Shape;27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40178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0BAE8-A376-445B-AE9A-514F1A8E1A9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C2B7-148D-4EB0-B5FF-22C86FAE7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87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0BAE8-A376-445B-AE9A-514F1A8E1A9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C2B7-148D-4EB0-B5FF-22C86FAE7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79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0BAE8-A376-445B-AE9A-514F1A8E1A9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C2B7-148D-4EB0-B5FF-22C86FAE7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103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0BAE8-A376-445B-AE9A-514F1A8E1A9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C2B7-148D-4EB0-B5FF-22C86FAE7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92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0BAE8-A376-445B-AE9A-514F1A8E1A9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C2B7-148D-4EB0-B5FF-22C86FAE7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897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0BAE8-A376-445B-AE9A-514F1A8E1A9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C2B7-148D-4EB0-B5FF-22C86FAE7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547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0BAE8-A376-445B-AE9A-514F1A8E1A9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C2B7-148D-4EB0-B5FF-22C86FAE7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020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0BAE8-A376-445B-AE9A-514F1A8E1A9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C2B7-148D-4EB0-B5FF-22C86FAE7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700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0BAE8-A376-445B-AE9A-514F1A8E1A9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C2B7-148D-4EB0-B5FF-22C86FAE7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72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0BAE8-A376-445B-AE9A-514F1A8E1A9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C2B7-148D-4EB0-B5FF-22C86FAE7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792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0BAE8-A376-445B-AE9A-514F1A8E1A9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C2B7-148D-4EB0-B5FF-22C86FAE7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585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200" cy="7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972433" y="2771833"/>
            <a:ext cx="5032400" cy="30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6191472" y="2771833"/>
            <a:ext cx="5032400" cy="30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965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6545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70" lvl="1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8936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55740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541853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3733"/>
            </a:lvl1pPr>
            <a:lvl2pPr marL="1219170" lvl="1" indent="-507987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3200"/>
            </a:lvl2pPr>
            <a:lvl3pPr marL="1828754" lvl="2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3pPr>
            <a:lvl4pPr marL="2438339" lvl="3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2400"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2400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2"/>
          </p:nvPr>
        </p:nvSpPr>
        <p:spPr>
          <a:xfrm>
            <a:off x="6197600" y="1600200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541853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3733"/>
            </a:lvl1pPr>
            <a:lvl2pPr marL="1219170" lvl="1" indent="-507987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3200"/>
            </a:lvl2pPr>
            <a:lvl3pPr marL="1828754" lvl="2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3pPr>
            <a:lvl4pPr marL="2438339" lvl="3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2400"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2400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65687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5333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09585" lvl="0" indent="-304792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667">
                <a:solidFill>
                  <a:srgbClr val="888888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24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133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002804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09585" lvl="0" indent="-304792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1"/>
            </a:lvl1pPr>
            <a:lvl2pPr marL="1219170" lvl="1" indent="-304792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/>
            </a:lvl2pPr>
            <a:lvl3pPr marL="1828754" lvl="2" indent="-30479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3pPr>
            <a:lvl4pPr marL="2438339" lvl="3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4pPr>
            <a:lvl5pPr marL="3047924" lvl="4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5pPr>
            <a:lvl6pPr marL="3657509" lvl="5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6pPr>
            <a:lvl7pPr marL="4267093" lvl="6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7pPr>
            <a:lvl8pPr marL="4876678" lvl="7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8pPr>
            <a:lvl9pPr marL="5486263" lvl="8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507987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marL="1219170" lvl="1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2438339" lvl="3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133"/>
            </a:lvl4pPr>
            <a:lvl5pPr marL="3047924" lvl="4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133"/>
            </a:lvl5pPr>
            <a:lvl6pPr marL="3657509" lvl="5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6pPr>
            <a:lvl7pPr marL="4267093" lvl="6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7pPr>
            <a:lvl8pPr marL="4876678" lvl="7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8pPr>
            <a:lvl9pPr marL="5486263" lvl="8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09585" lvl="0" indent="-304792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1"/>
            </a:lvl1pPr>
            <a:lvl2pPr marL="1219170" lvl="1" indent="-304792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/>
            </a:lvl2pPr>
            <a:lvl3pPr marL="1828754" lvl="2" indent="-30479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3pPr>
            <a:lvl4pPr marL="2438339" lvl="3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4pPr>
            <a:lvl5pPr marL="3047924" lvl="4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5pPr>
            <a:lvl6pPr marL="3657509" lvl="5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6pPr>
            <a:lvl7pPr marL="4267093" lvl="6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7pPr>
            <a:lvl8pPr marL="4876678" lvl="7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8pPr>
            <a:lvl9pPr marL="5486263" lvl="8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507987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marL="1219170" lvl="1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2438339" lvl="3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133"/>
            </a:lvl4pPr>
            <a:lvl5pPr marL="3047924" lvl="4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133"/>
            </a:lvl5pPr>
            <a:lvl6pPr marL="3657509" lvl="5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6pPr>
            <a:lvl7pPr marL="4267093" lvl="6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7pPr>
            <a:lvl8pPr marL="4876678" lvl="7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8pPr>
            <a:lvl9pPr marL="5486263" lvl="8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145754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09825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609601" y="273051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667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4766733" y="273052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575719" algn="l">
              <a:lnSpc>
                <a:spcPct val="100000"/>
              </a:lnSpc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4267"/>
            </a:lvl1pPr>
            <a:lvl2pPr marL="1219170" lvl="1" indent="-541853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3733"/>
            </a:lvl2pPr>
            <a:lvl3pPr marL="1828754" lvl="2" indent="-507987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3pPr>
            <a:lvl4pPr marL="2438339" lvl="3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4pPr>
            <a:lvl5pPr marL="3047924" lvl="4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667"/>
            </a:lvl5pPr>
            <a:lvl6pPr marL="3657509" lvl="5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6pPr>
            <a:lvl7pPr marL="4267093" lvl="6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7pPr>
            <a:lvl8pPr marL="4876678" lvl="7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8pPr>
            <a:lvl9pPr marL="5486263" lvl="8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304792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marL="1219170" lvl="1" indent="-304792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2pPr>
            <a:lvl3pPr marL="1828754" lvl="2" indent="-304792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/>
            </a:lvl3pPr>
            <a:lvl4pPr marL="2438339" lvl="3" indent="-304792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marL="3047924" lvl="4" indent="-304792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marL="3657509" lvl="5" indent="-304792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6pPr>
            <a:lvl7pPr marL="4267093" lvl="6" indent="-304792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7pPr>
            <a:lvl8pPr marL="4876678" lvl="7" indent="-304792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8pPr>
            <a:lvl9pPr marL="5486263" lvl="8" indent="-304792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1379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667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304792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marL="1219170" lvl="1" indent="-304792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2pPr>
            <a:lvl3pPr marL="1828754" lvl="2" indent="-304792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/>
            </a:lvl3pPr>
            <a:lvl4pPr marL="2438339" lvl="3" indent="-304792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marL="3047924" lvl="4" indent="-304792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marL="3657509" lvl="5" indent="-304792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6pPr>
            <a:lvl7pPr marL="4267093" lvl="6" indent="-304792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7pPr>
            <a:lvl8pPr marL="4876678" lvl="7" indent="-304792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8pPr>
            <a:lvl9pPr marL="5486263" lvl="8" indent="-304792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72449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9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70" lvl="1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33520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0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800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70" lvl="1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5862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30BAE8-A376-445B-AE9A-514F1A8E1A9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0C2B7-148D-4EB0-B5FF-22C86FAE7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116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kern="0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kern="0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kern="0"/>
              <a:pPr/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217762621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2400" dirty="0" b="1">
                <a:latin typeface="Times New Roman"/>
                <a:cs typeface="Times New Roman"/>
              </a:rPr>
              <a:t>FilePilot: A Multi-Layer Windows File Manager Using C++ and C#</a:t>
            </a:r>
            <a:endParaRPr lang="en-US" sz="24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1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None/>
            </a:pPr>
            <a:r>
              <a:rPr lang="en-US" sz="1700" dirty="0">
                <a:latin typeface="Times New Roman"/>
                <a:cs typeface="Times New Roman"/>
              </a:rPr>
              <a:t>A Project Presentation</a:t>
            </a:r>
            <a:endParaRPr lang="en-US" sz="17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1500" dirty="0">
                <a:latin typeface="Times New Roman"/>
                <a:cs typeface="Times New Roman"/>
              </a:rPr>
              <a:t>Submitted By: [Your Name(s)]</a:t>
            </a:r>
            <a:endParaRPr lang="en-US" sz="15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1500" dirty="0">
                <a:latin typeface="Times New Roman"/>
                <a:cs typeface="Times New Roman"/>
              </a:rPr>
              <a:t>Roll No.: [Your Roll Number(s)]</a:t>
            </a:r>
            <a:endParaRPr lang="en-US" sz="15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1500" dirty="0">
                <a:latin typeface="Times New Roman"/>
                <a:cs typeface="Times New Roman"/>
              </a:rPr>
              <a:t>BSc. CSIT Final Project Presentation</a:t>
            </a:r>
            <a:endParaRPr lang="en-US" sz="15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1500" dirty="0">
                <a:latin typeface="Times New Roman"/>
                <a:cs typeface="Times New Roman"/>
              </a:rPr>
              <a:t>Tribhuvan University, Nepal</a:t>
            </a:r>
            <a:endParaRPr lang="en-US" sz="15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1500" dirty="0">
                <a:latin typeface="Times New Roman"/>
                <a:cs typeface="Times New Roman"/>
              </a:rPr>
              <a:t>Under the Supervision of [Supervisor Name]</a:t>
            </a:r>
            <a:endParaRPr lang="en-US"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3000" dirty="0" b="1">
                <a:latin typeface="Times New Roman"/>
                <a:cs typeface="Times New Roman"/>
              </a:rPr>
              <a:t>Table of Contents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2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Introduction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Problem Statement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Objectives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Development Methodology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Core Features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System Architecture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Search and Duplicate Detection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Compression and File Operations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Result Analysis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Testing, Conclusion, and Demo</a:t>
            </a:r>
            <a:endParaRPr lang="en-US"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3000" dirty="0" b="1">
                <a:latin typeface="Times New Roman"/>
                <a:cs typeface="Times New Roman"/>
              </a:rPr>
              <a:t>Introduction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3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FilePilot is a Windows desktop file management application.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It combines a native C++ core with a C# WinForms graphical interface.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The project demonstrates a practical multi-language software architecture.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It supports real file operations instead of being only a UI mockup.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The main goal is to balance system-level capability with user-friendly interaction.</a:t>
            </a:r>
            <a:endParaRPr lang="en-US"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3000" dirty="0" b="1">
                <a:latin typeface="Times New Roman"/>
                <a:cs typeface="Times New Roman"/>
              </a:rPr>
              <a:t>Problem Statement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4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Many academic desktop projects do not reflect real production-style architecture.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A file manager needs both low-level file-system access and a responsive user interface.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Using one language for everything can make structure less realistic for this use case.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The challenge is to keep the core efficient while keeping the interface easy to build and extend.</a:t>
            </a:r>
            <a:endParaRPr lang="en-US"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3000" dirty="0" b="1">
                <a:latin typeface="Times New Roman"/>
                <a:cs typeface="Times New Roman"/>
              </a:rPr>
              <a:t>Objectives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5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Develop a functional Windows file manager with essential file and folder operations.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Implement performance-sensitive logic in C++20.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Build the desktop interface in C# WinForms.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Connect both layers through a native DLL using P/Invoke.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Add search, sorting, compression, duplicate detection, and analysis features.</a:t>
            </a:r>
            <a:endParaRPr lang="en-US"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3000" dirty="0" b="1">
                <a:latin typeface="Times New Roman"/>
                <a:cs typeface="Times New Roman"/>
              </a:rPr>
              <a:t>Development Methodology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6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The project follows an incremental development model.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Phase 1: basic navigation and directory listing.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Phase 2: DLL bridge and C# interoperability.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Phase 3: search, sorting, opening, and file operations.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Phase 4: compression, duplicate detection, analysis panel, and usability improvements.</a:t>
            </a:r>
            <a:endParaRPr lang="en-US"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3000" dirty="0" b="1">
                <a:latin typeface="Times New Roman"/>
                <a:cs typeface="Times New Roman"/>
              </a:rPr>
              <a:t>Core Features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7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Navigate folders and open files with their default applications.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Create, rename, delete, copy, cut, and paste files and folders.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Search and sort directory contents by name, size, and modified time.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Compress and decompress using Zstandard and ZIP.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Detect duplicates by filename and by file content.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Run analysis and benchmark utilities from a separate panel.</a:t>
            </a:r>
            <a:endParaRPr lang="en-US"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3000" dirty="0" b="1">
                <a:latin typeface="Times New Roman"/>
                <a:cs typeface="Times New Roman"/>
              </a:rPr>
              <a:t>System Architecture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8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Layer 1: C++ core implements file services, search, sorting, compression, and duplicate detection.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Layer 2: a native DLL exposes a simple C-style API for interop.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Layer 3: C# WinForms handles layout, events, dialogs, and user interaction.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This separation improves maintainability, testing, and future extensibility.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The architecture is close to how real desktop tools are often structured.</a:t>
            </a:r>
            <a:endParaRPr lang="en-US"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3000" dirty="0" b="1">
                <a:latin typeface="Times New Roman"/>
                <a:cs typeface="Times New Roman"/>
              </a:rPr>
              <a:t>Functional Requirements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9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List contents of a selected directory.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Navigate into folders and move through location history.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Open, create, rename, delete, copy, cut, and paste files and folders.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Search and sort the current directory contents.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Compress, decompress, and analyze storage-related operations.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Detect duplicates and show results to the user.</a:t>
            </a:r>
            <a:endParaRPr lang="en-US"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3000" dirty="0" b="1">
                <a:latin typeface="Times New Roman"/>
                <a:cs typeface="Times New Roman"/>
              </a:rPr>
              <a:t>Data Structures and Algorithms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10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std::vector&lt;FileInfo&gt; stores file listings and result collections.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std::unordered_map is used for the inverted index and duplicate grouping.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std::sort is used for flexible ordering by different criteria.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std::filesystem provides traversal, metadata access, and path handling.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SHA-256 hashing supports content-based duplicate detection.</a:t>
            </a:r>
            <a:endParaRPr lang="en-US"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3000" dirty="0" b="1">
                <a:latin typeface="Times New Roman"/>
                <a:cs typeface="Times New Roman"/>
              </a:rPr>
              <a:t>Search Implementation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11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File names are tokenized using separators such as underscore, hyphen, and dot.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Tokens are stored in an in-memory inverted index for fast lookup.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Exact token matches are preferred in the results.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Partial token matches are also supported for better usability.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This design keeps search responsive for the active directory.</a:t>
            </a:r>
            <a:endParaRPr lang="en-US"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3000" dirty="0" b="1">
                <a:latin typeface="Times New Roman"/>
                <a:cs typeface="Times New Roman"/>
              </a:rPr>
              <a:t>Duplicate Detection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12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Name-based detection groups files with identical file names.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Content-based detection first groups files by size to avoid unnecessary hashing.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Only same-size groups are hashed using SHA-256.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Files with identical hashes are reported as content duplicates.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The recursive scan uses safe error-code traversal to skip broken paths.</a:t>
            </a:r>
            <a:endParaRPr lang="en-US"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3000" dirty="0" b="1">
                <a:latin typeface="Times New Roman"/>
                <a:cs typeface="Times New Roman"/>
              </a:rPr>
              <a:t>Compression and Decompression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13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Zstandard was selected because it offers a strong balance of speed and compression ratio.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ZIP support was added for common archive compatibility.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The user can choose the compression format from the interface.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ZIP extraction targets folders, while ZST decompression produces output files.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The GUI calls these features through the native backend.</a:t>
            </a:r>
            <a:endParaRPr lang="en-US"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3000" dirty="0" b="1">
                <a:latin typeface="Times New Roman"/>
                <a:cs typeface="Times New Roman"/>
              </a:rPr>
              <a:t>Clipboard-Style File Operations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14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Copy does not immediately duplicate the item; it stores copy intent.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Cut stores move intent in the application clipboard.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Paste executes the pending operation in the current destination folder.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This behavior matches Windows File Explorer more closely.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Both files and folders are supported.</a:t>
            </a:r>
            <a:endParaRPr lang="en-US"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3000" dirty="0" b="1">
                <a:latin typeface="Times New Roman"/>
                <a:cs typeface="Times New Roman"/>
              </a:rPr>
              <a:t>UI and Navigation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15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The interface includes an address bar, search box, file grid, and context menu.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Keyboard shortcuts support Ctrl+C, Ctrl+X, Ctrl+V, Delete, F2, and Ctrl+L.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Alt+Left and Alt+Right navigate backward and forward through history.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Alt+Up and Backspace navigate to the parent folder.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Escape returns focus from text inputs back to the file grid.</a:t>
            </a:r>
            <a:endParaRPr lang="en-US"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350000"/>
            <a:ext cx="11800000" cy="700000"/>
          </a:xfrm>
          <a:prstGeom prst="rect">
            <a:avLst/>
          </a:prstGeom>
          <a:lnNoFill/>
        </p:spPr>
        <p:txBody>
          <a:bodyPr wrap="square" lIns="121900" tIns="121900" rIns="121900" bIns="121900"/>
          <a:lstStyle/>
          <a:p>
            <a:pPr algn="ctr">
              <a:buNone/>
            </a:pPr>
            <a:r>
              <a:rPr lang="en-US" sz="3000" dirty="0" b="1">
                <a:latin typeface="Times New Roman"/>
                <a:cs typeface="Times New Roman"/>
              </a:rPr>
              <a:t>Result Analysis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16</a:t>
            </a:fld>
            <a:endParaRPr/>
          </a:p>
        </p:txBody>
      </p:sp>
      <p:sp>
        <p:nvSpPr>
          <p:cNvPr id="4" name="Subtitle"/>
          <p:cNvSpPr txBox="1">
            <a:spLocks noGrp="1"/>
          </p:cNvSpPr>
          <p:nvPr/>
        </p:nvSpPr>
        <p:spPr>
          <a:xfrm>
            <a:off x="950000" y="1050000"/>
            <a:ext cx="11100000" cy="500000"/>
          </a:xfrm>
          <a:prstGeom prst="rect">
            <a:avLst/>
          </a:prstGeom>
          <a:solidFill>
            <a:srgbClr val="F7F9FC"/>
          </a:solidFill>
          <a:ln w="12700">
            <a:solidFill>
              <a:srgbClr val="D9E2F3"/>
            </a:solidFill>
          </a:ln>
        </p:spPr>
        <p:txBody>
          <a:bodyPr wrap="square" lIns="121900" tIns="121900" rIns="121900" bIns="121900"/>
          <a:lstStyle/>
          <a:p>
            <a:pPr algn="ctr">
              <a:buNone/>
            </a:pPr>
            <a:r>
              <a:rPr lang="en-US" sz="1500" dirty="0">
                <a:latin typeface="Times New Roman"/>
                <a:cs typeface="Times New Roman"/>
              </a:rPr>
              <a:t>The project is evaluated in terms of functionality, architecture, usability, and measurable analysis support.</a:t>
            </a:r>
            <a:endParaRPr lang="en-US" sz="1500">
              <a:latin typeface="Times New Roman"/>
              <a:cs typeface="Times New Roman"/>
            </a:endParaRPr>
          </a:p>
        </p:txBody>
      </p:sp>
      <p:sp>
        <p:nvSpPr>
          <p:cNvPr id="5" name="Functional Result"/>
          <p:cNvSpPr txBox="1">
            <a:spLocks noGrp="1"/>
          </p:cNvSpPr>
          <p:nvPr/>
        </p:nvSpPr>
        <p:spPr>
          <a:xfrm>
            <a:off x="900000" y="1800000"/>
            <a:ext cx="4900000" cy="1450000"/>
          </a:xfrm>
          <a:prstGeom prst="rect">
            <a:avLst/>
          </a:prstGeom>
          <a:solidFill>
            <a:srgbClr val="DDEBF7"/>
          </a:solidFill>
          <a:ln w="12700">
            <a:solidFill>
              <a:srgbClr val="C9D2E3"/>
            </a:solidFill>
          </a:ln>
        </p:spPr>
        <p:txBody>
          <a:bodyPr wrap="square" lIns="150000" tIns="150000" rIns="150000" bIns="150000"/>
          <a:lstStyle/>
          <a:p>
            <a:pPr>
              <a:buNone/>
            </a:pPr>
            <a:r>
              <a:rPr lang="en-US" sz="1700" dirty="0" b="1">
                <a:latin typeface="Times New Roman"/>
                <a:cs typeface="Times New Roman"/>
              </a:rPr>
              <a:t>Functional Result</a:t>
            </a:r>
            <a:endParaRPr lang="en-US" sz="17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400" dirty="0">
                <a:latin typeface="Times New Roman"/>
                <a:cs typeface="Times New Roman"/>
              </a:rPr>
              <a:t>Navigation, open, create, rename, delete, copy, cut, and paste are implemented.</a:t>
            </a:r>
            <a:endParaRPr lang="en-US" sz="14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400" dirty="0">
                <a:latin typeface="Times New Roman"/>
                <a:cs typeface="Times New Roman"/>
              </a:rPr>
              <a:t>Search and sort work on the active directory with live UI updates.</a:t>
            </a:r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6" name="Architecture Result"/>
          <p:cNvSpPr txBox="1">
            <a:spLocks noGrp="1"/>
          </p:cNvSpPr>
          <p:nvPr/>
        </p:nvSpPr>
        <p:spPr>
          <a:xfrm>
            <a:off x="6550000" y="1800000"/>
            <a:ext cx="4900000" cy="1450000"/>
          </a:xfrm>
          <a:prstGeom prst="rect">
            <a:avLst/>
          </a:prstGeom>
          <a:solidFill>
            <a:srgbClr val="E2F0D9"/>
          </a:solidFill>
          <a:ln w="12700">
            <a:solidFill>
              <a:srgbClr val="C9D2E3"/>
            </a:solidFill>
          </a:ln>
        </p:spPr>
        <p:txBody>
          <a:bodyPr wrap="square" lIns="150000" tIns="150000" rIns="150000" bIns="150000"/>
          <a:lstStyle/>
          <a:p>
            <a:pPr>
              <a:buNone/>
            </a:pPr>
            <a:r>
              <a:rPr lang="en-US" sz="1700" dirty="0" b="1">
                <a:latin typeface="Times New Roman"/>
                <a:cs typeface="Times New Roman"/>
              </a:rPr>
              <a:t>Architecture Result</a:t>
            </a:r>
            <a:endParaRPr lang="en-US" sz="17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400" dirty="0">
                <a:latin typeface="Times New Roman"/>
                <a:cs typeface="Times New Roman"/>
              </a:rPr>
              <a:t>C++ core, native DLL bridge, and C# UI integrate successfully.</a:t>
            </a:r>
            <a:endParaRPr lang="en-US" sz="14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400" dirty="0">
                <a:latin typeface="Times New Roman"/>
                <a:cs typeface="Times New Roman"/>
              </a:rPr>
              <a:t>The interop boundary keeps the UI separate from filesystem-heavy logic.</a:t>
            </a:r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7" name="Advanced Feature Result"/>
          <p:cNvSpPr txBox="1">
            <a:spLocks noGrp="1"/>
          </p:cNvSpPr>
          <p:nvPr/>
        </p:nvSpPr>
        <p:spPr>
          <a:xfrm>
            <a:off x="900000" y="3550000"/>
            <a:ext cx="4900000" cy="1450000"/>
          </a:xfrm>
          <a:prstGeom prst="rect">
            <a:avLst/>
          </a:prstGeom>
          <a:solidFill>
            <a:srgbClr val="FFF2CC"/>
          </a:solidFill>
          <a:ln w="12700">
            <a:solidFill>
              <a:srgbClr val="C9D2E3"/>
            </a:solidFill>
          </a:ln>
        </p:spPr>
        <p:txBody>
          <a:bodyPr wrap="square" lIns="150000" tIns="150000" rIns="150000" bIns="150000"/>
          <a:lstStyle/>
          <a:p>
            <a:pPr>
              <a:buNone/>
            </a:pPr>
            <a:r>
              <a:rPr lang="en-US" sz="1700" dirty="0" b="1">
                <a:latin typeface="Times New Roman"/>
                <a:cs typeface="Times New Roman"/>
              </a:rPr>
              <a:t>Advanced Feature Result</a:t>
            </a:r>
            <a:endParaRPr lang="en-US" sz="17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400" dirty="0">
                <a:latin typeface="Times New Roman"/>
                <a:cs typeface="Times New Roman"/>
              </a:rPr>
              <a:t>ZIP and Zstandard compression are available through the same UI workflow.</a:t>
            </a:r>
            <a:endParaRPr lang="en-US" sz="14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400" dirty="0">
                <a:latin typeface="Times New Roman"/>
                <a:cs typeface="Times New Roman"/>
              </a:rPr>
              <a:t>Duplicate detection works by name and by content using hashing.</a:t>
            </a:r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8" name="Usability Result"/>
          <p:cNvSpPr txBox="1">
            <a:spLocks noGrp="1"/>
          </p:cNvSpPr>
          <p:nvPr/>
        </p:nvSpPr>
        <p:spPr>
          <a:xfrm>
            <a:off x="6550000" y="3550000"/>
            <a:ext cx="4900000" cy="1450000"/>
          </a:xfrm>
          <a:prstGeom prst="rect">
            <a:avLst/>
          </a:prstGeom>
          <a:solidFill>
            <a:srgbClr val="FCE4D6"/>
          </a:solidFill>
          <a:ln w="12700">
            <a:solidFill>
              <a:srgbClr val="C9D2E3"/>
            </a:solidFill>
          </a:ln>
        </p:spPr>
        <p:txBody>
          <a:bodyPr wrap="square" lIns="150000" tIns="150000" rIns="150000" bIns="150000"/>
          <a:lstStyle/>
          <a:p>
            <a:pPr>
              <a:buNone/>
            </a:pPr>
            <a:r>
              <a:rPr lang="en-US" sz="1700" dirty="0" b="1">
                <a:latin typeface="Times New Roman"/>
                <a:cs typeface="Times New Roman"/>
              </a:rPr>
              <a:t>Usability Result</a:t>
            </a:r>
            <a:endParaRPr lang="en-US" sz="17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400" dirty="0">
                <a:latin typeface="Times New Roman"/>
                <a:cs typeface="Times New Roman"/>
              </a:rPr>
              <a:t>Right-click menus, keyboard shortcuts, address bar focus, and history navigation are supported.</a:t>
            </a:r>
            <a:endParaRPr lang="en-US" sz="14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400" dirty="0">
                <a:latin typeface="Times New Roman"/>
                <a:cs typeface="Times New Roman"/>
              </a:rPr>
              <a:t>Clipboard-style copy and cut behave closer to Windows File Explorer.</a:t>
            </a:r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9" name="Footer"/>
          <p:cNvSpPr txBox="1">
            <a:spLocks noGrp="1"/>
          </p:cNvSpPr>
          <p:nvPr/>
        </p:nvSpPr>
        <p:spPr>
          <a:xfrm>
            <a:off x="950000" y="5200000"/>
            <a:ext cx="11100000" cy="900000"/>
          </a:xfrm>
          <a:prstGeom prst="rect">
            <a:avLst/>
          </a:prstGeom>
          <a:solidFill>
            <a:srgbClr val="F7F7F7"/>
          </a:solidFill>
          <a:ln w="12700">
            <a:solidFill>
              <a:srgbClr val="BFBFBF"/>
            </a:solidFill>
          </a:ln>
        </p:spPr>
        <p:txBody>
          <a:bodyPr wrap="square" lIns="121900" tIns="121900" rIns="121900" bIns="121900"/>
          <a:lstStyle/>
          <a:p>
            <a:pPr>
              <a:buNone/>
            </a:pPr>
            <a:r>
              <a:rPr lang="en-US" sz="1600" dirty="0" b="1">
                <a:latin typeface="Times New Roman"/>
                <a:cs typeface="Times New Roman"/>
              </a:rPr>
              <a:t>What can be shown live in the demo:</a:t>
            </a:r>
            <a:endParaRPr lang="en-US" sz="16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450" dirty="0">
                <a:latin typeface="Times New Roman"/>
                <a:cs typeface="Times New Roman"/>
              </a:rPr>
              <a:t>storage summary, search benchmark, sort benchmark, compression ratio, and duplicate scan output from the analysis panel</a:t>
            </a:r>
            <a:endParaRPr lang="en-US" sz="145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450" dirty="0">
                <a:latin typeface="Times New Roman"/>
                <a:cs typeface="Times New Roman"/>
              </a:rPr>
              <a:t>Overall outcome: FilePilot is a working functional prototype with realistic desktop architecture and demonstrable algorithmic features.</a:t>
            </a:r>
            <a:endParaRPr lang="en-US"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3000" dirty="0" b="1">
                <a:latin typeface="Times New Roman"/>
                <a:cs typeface="Times New Roman"/>
              </a:rPr>
              <a:t>Tools and Technologies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17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Languages: C++20 and C#.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Frameworks: WinForms and P/Invoke interoperability.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Libraries and APIs: STL, std::filesystem, Windows shell integration, Zstandard.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Development environment: Visual Studio 2022 targeting x64.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Design focus: modularity, interop safety, and practical desktop behavior.</a:t>
            </a:r>
            <a:endParaRPr lang="en-US"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350000"/>
            <a:ext cx="11800000" cy="700000"/>
          </a:xfrm>
          <a:prstGeom prst="rect">
            <a:avLst/>
          </a:prstGeom>
          <a:lnNoFill/>
        </p:spPr>
        <p:txBody>
          <a:bodyPr wrap="square" lIns="121900" tIns="121900" rIns="121900" bIns="121900"/>
          <a:lstStyle/>
          <a:p>
            <a:pPr algn="ctr">
              <a:buNone/>
            </a:pPr>
            <a:r>
              <a:rPr lang="en-US" sz="2800" dirty="0" b="1">
                <a:latin typeface="Times New Roman"/>
                <a:cs typeface="Times New Roman"/>
              </a:rPr>
              <a:t>Testing and Evaluation Summary</a:t>
            </a:r>
            <a:endParaRPr lang="en-US" sz="28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18</a:t>
            </a:fld>
            <a:endParaRPr/>
          </a:p>
        </p:txBody>
      </p:sp>
      <p:sp>
        <p:nvSpPr>
          <p:cNvPr id="4" name="LeftPanel"/>
          <p:cNvSpPr txBox="1">
            <a:spLocks noGrp="1"/>
          </p:cNvSpPr>
          <p:nvPr/>
        </p:nvSpPr>
        <p:spPr>
          <a:xfrm>
            <a:off x="850000" y="1450000"/>
            <a:ext cx="6200000" cy="4000000"/>
          </a:xfrm>
          <a:prstGeom prst="rect">
            <a:avLst/>
          </a:prstGeom>
          <a:solidFill>
            <a:srgbClr val="F7FBFF"/>
          </a:solidFill>
          <a:ln w="12700">
            <a:solidFill>
              <a:srgbClr val="9CC2E5"/>
            </a:solidFill>
          </a:ln>
        </p:spPr>
        <p:txBody>
          <a:bodyPr wrap="square" lIns="121900" tIns="121900" rIns="121900" bIns="121900"/>
          <a:lstStyle/>
          <a:p>
            <a:pPr>
              <a:buNone/>
            </a:pPr>
            <a:r>
              <a:rPr lang="en-US" sz="1700" dirty="0" b="1">
                <a:latin typeface="Times New Roman"/>
                <a:cs typeface="Times New Roman"/>
              </a:rPr>
              <a:t>Validated Areas</a:t>
            </a:r>
            <a:endParaRPr lang="en-US" sz="17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450" dirty="0">
                <a:latin typeface="Times New Roman"/>
                <a:cs typeface="Times New Roman"/>
              </a:rPr>
              <a:t>Functional testing: navigation, open, create, rename, delete, and clipboard-style operations</a:t>
            </a:r>
            <a:endParaRPr lang="en-US" sz="145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450" dirty="0">
                <a:latin typeface="Times New Roman"/>
                <a:cs typeface="Times New Roman"/>
              </a:rPr>
              <a:t>Interop testing: C# UI calls C++ DLL successfully through P/Invoke</a:t>
            </a:r>
            <a:endParaRPr lang="en-US" sz="145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450" dirty="0">
                <a:latin typeface="Times New Roman"/>
                <a:cs typeface="Times New Roman"/>
              </a:rPr>
              <a:t>Algorithm testing: search, sorting, duplicate detection, and compression workflows verified</a:t>
            </a:r>
            <a:endParaRPr lang="en-US" sz="145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450" dirty="0">
                <a:latin typeface="Times New Roman"/>
                <a:cs typeface="Times New Roman"/>
              </a:rPr>
              <a:t>Usability testing: context menu, keyboard shortcuts, focus handling, and history navigation</a:t>
            </a:r>
            <a:endParaRPr lang="en-US" sz="1450">
              <a:latin typeface="Times New Roman"/>
              <a:cs typeface="Times New Roman"/>
            </a:endParaRPr>
          </a:p>
        </p:txBody>
      </p:sp>
      <p:sp>
        <p:nvSpPr>
          <p:cNvPr id="5" name="RightPanel"/>
          <p:cNvSpPr txBox="1">
            <a:spLocks noGrp="1"/>
          </p:cNvSpPr>
          <p:nvPr/>
        </p:nvSpPr>
        <p:spPr>
          <a:xfrm>
            <a:off x="7350000" y="1450000"/>
            <a:ext cx="4350000" cy="4000000"/>
          </a:xfrm>
          <a:prstGeom prst="rect">
            <a:avLst/>
          </a:prstGeom>
          <a:solidFill>
            <a:srgbClr val="FFFCEF"/>
          </a:solidFill>
          <a:ln w="12700">
            <a:solidFill>
              <a:srgbClr val="FFD966"/>
            </a:solidFill>
          </a:ln>
        </p:spPr>
        <p:txBody>
          <a:bodyPr wrap="square" lIns="121900" tIns="121900" rIns="121900" bIns="121900"/>
          <a:lstStyle/>
          <a:p>
            <a:pPr>
              <a:buNone/>
            </a:pPr>
            <a:r>
              <a:rPr lang="en-US" sz="1700" dirty="0" b="1">
                <a:latin typeface="Times New Roman"/>
                <a:cs typeface="Times New Roman"/>
              </a:rPr>
              <a:t>Evaluation Snapshot</a:t>
            </a:r>
            <a:endParaRPr lang="en-US" sz="17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1550" dirty="0">
                <a:latin typeface="Times New Roman"/>
                <a:cs typeface="Times New Roman"/>
              </a:rPr>
              <a:t xml:space="preserve">Functional coverage    [#####]</a:t>
            </a:r>
            <a:endParaRPr lang="en-US" sz="155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1550" dirty="0">
                <a:latin typeface="Times New Roman"/>
                <a:cs typeface="Times New Roman"/>
              </a:rPr>
              <a:t xml:space="preserve">Architecture clarity   [#####]</a:t>
            </a:r>
            <a:endParaRPr lang="en-US" sz="155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1550" dirty="0">
                <a:latin typeface="Times New Roman"/>
                <a:cs typeface="Times New Roman"/>
              </a:rPr>
              <a:t xml:space="preserve">Search responsiveness  [####-]</a:t>
            </a:r>
            <a:endParaRPr lang="en-US" sz="155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1550" dirty="0">
                <a:latin typeface="Times New Roman"/>
                <a:cs typeface="Times New Roman"/>
              </a:rPr>
              <a:t xml:space="preserve">Duplicate analysis     [####-]</a:t>
            </a:r>
            <a:endParaRPr lang="en-US" sz="155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1550" dirty="0">
                <a:latin typeface="Times New Roman"/>
                <a:cs typeface="Times New Roman"/>
              </a:rPr>
              <a:t xml:space="preserve">UI usability           [#####]</a:t>
            </a:r>
            <a:endParaRPr lang="en-US" sz="155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1250" dirty="0">
                <a:latin typeface="Times New Roman"/>
                <a:cs typeface="Times New Roman"/>
              </a:rPr>
              <a:t>These bars are qualitative summaries based on completed feature validation and the built-in analysis tools.</a:t>
            </a:r>
            <a:endParaRPr lang="en-US" sz="1250">
              <a:latin typeface="Times New Roman"/>
              <a:cs typeface="Times New Roman"/>
            </a:endParaRPr>
          </a:p>
        </p:txBody>
      </p:sp>
      <p:sp>
        <p:nvSpPr>
          <p:cNvPr id="6" name="BottomNote"/>
          <p:cNvSpPr txBox="1">
            <a:spLocks noGrp="1"/>
          </p:cNvSpPr>
          <p:nvPr/>
        </p:nvSpPr>
        <p:spPr>
          <a:xfrm>
            <a:off x="850000" y="5650000"/>
            <a:ext cx="10850000" cy="7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txBody>
          <a:bodyPr wrap="square" lIns="121900" tIns="121900" rIns="121900" bIns="121900"/>
          <a:lstStyle/>
          <a:p>
            <a:pPr algn="ctr">
              <a:buNone/>
            </a:pPr>
            <a:r>
              <a:rPr lang="en-US" sz="1400" dirty="0">
                <a:latin typeface="Times New Roman"/>
                <a:cs typeface="Times New Roman"/>
              </a:rPr>
              <a:t>The detailed numeric values are intended to be shown live from the Analysis panel during demonstration, while this slide summarizes what was successfully achieved.</a:t>
            </a:r>
            <a:endParaRPr lang="en-US"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3000" dirty="0" b="1">
                <a:latin typeface="Times New Roman"/>
                <a:cs typeface="Times New Roman"/>
              </a:rPr>
              <a:t>Conclusion and Future Work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19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FilePilot demonstrates a practical multi-layer desktop application architecture.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The project successfully combines native performance with rapid GUI development.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Core file manager operations, search, compression, and duplicate analysis were implemented.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Future work includes multi-select actions, drag-and-drop, preview panes, and conflict dialogs.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Background indexing and richer analysis charts could further improve the system.</a:t>
            </a:r>
            <a:endParaRPr lang="en-US"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3000" dirty="0" b="1">
                <a:latin typeface="Times New Roman"/>
                <a:cs typeface="Times New Roman"/>
              </a:rPr>
              <a:t>References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20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None/>
            </a:pPr>
            <a:r>
              <a:rPr lang="en-US" sz="1300" dirty="0">
                <a:latin typeface="Times New Roman"/>
                <a:cs typeface="Times New Roman"/>
              </a:rPr>
              <a:t>[1] O. Bergman, R. Beyth-Marom, and R. Nachmias, "The user-subjective approach to personal information management systems," JASIST, 2003.</a:t>
            </a:r>
            <a:endParaRPr lang="en-US" sz="13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1300" dirty="0">
                <a:latin typeface="Times New Roman"/>
                <a:cs typeface="Times New Roman"/>
              </a:rPr>
              <a:t>[2] J. Zobel and A. Moffat, "Inverted files for text search engines," ACM Computing Surveys, 2006.</a:t>
            </a:r>
            <a:endParaRPr lang="en-US" sz="13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1300" dirty="0">
                <a:latin typeface="Times New Roman"/>
                <a:cs typeface="Times New Roman"/>
              </a:rPr>
              <a:t>[3] T. G. W. Epperly et al., "High-performance language interoperability for scientific computing through Babel," IJHPCA, 2012.</a:t>
            </a:r>
            <a:endParaRPr lang="en-US" sz="13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1300" dirty="0">
                <a:latin typeface="Times New Roman"/>
                <a:cs typeface="Times New Roman"/>
              </a:rPr>
              <a:t>[4] A. P. Maulidina et al., "Comparative study of data compression algorithms: Zstandard, zlib &amp; LZ4," Springer, 2024.</a:t>
            </a:r>
            <a:endParaRPr lang="en-US" sz="13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1300" dirty="0">
                <a:latin typeface="Times New Roman"/>
                <a:cs typeface="Times New Roman"/>
              </a:rPr>
              <a:t>[5] P. Warren, "Personal information management: The case for an evolutionary approach," Interacting with Computers, 2014.</a:t>
            </a:r>
            <a:endParaRPr lang="en-US" sz="13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1300" dirty="0">
                <a:latin typeface="Times New Roman"/>
                <a:cs typeface="Times New Roman"/>
              </a:rPr>
              <a:t>[6] O. Bergman, T. Israeli, and S. Whittaker, "Factors hindering shared files retrieval," Aslib Journal of Information Management, 2020.</a:t>
            </a:r>
            <a:endParaRPr lang="en-US"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3000" dirty="0" b="1">
                <a:latin typeface="Times New Roman"/>
                <a:cs typeface="Times New Roman"/>
              </a:rPr>
              <a:t>Project Demonstration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21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Launch the application and navigate between folders.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Search and sort the current directory.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Create, rename, and delete files or folders.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Copy, cut, and paste items using the internal clipboard.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Compress, decompress, and run duplicate detection and analysis.</a:t>
            </a:r>
            <a:endParaRPr lang="en-US"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1112</TotalTime>
  <Words>785</Words>
  <Application>Microsoft Office PowerPoint</Application>
  <PresentationFormat>Widescreen</PresentationFormat>
  <Paragraphs>117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Aptos</vt:lpstr>
      <vt:lpstr>Arial</vt:lpstr>
      <vt:lpstr>Calibri</vt:lpstr>
      <vt:lpstr>Calibri Light</vt:lpstr>
      <vt:lpstr>Lato</vt:lpstr>
      <vt:lpstr>Times New Roman</vt:lpstr>
      <vt:lpstr>Office Theme</vt:lpstr>
      <vt:lpstr>1_Office Theme</vt:lpstr>
      <vt:lpstr>A Project Presentation​ On​ ‘Coffee Ghar: Conversational Coffee Ordering Chatbot with Smart Recommendations’</vt:lpstr>
      <vt:lpstr>Table of Contents</vt:lpstr>
      <vt:lpstr>Introduction</vt:lpstr>
      <vt:lpstr>Problem Statement</vt:lpstr>
      <vt:lpstr>Objectives</vt:lpstr>
      <vt:lpstr>Development Methodology</vt:lpstr>
      <vt:lpstr>Chatbot Implementation</vt:lpstr>
      <vt:lpstr>System Architecture</vt:lpstr>
      <vt:lpstr>Functional Requirement</vt:lpstr>
      <vt:lpstr>Functional Requirement</vt:lpstr>
      <vt:lpstr>Class Diagram</vt:lpstr>
      <vt:lpstr>Sequence Diagram</vt:lpstr>
      <vt:lpstr>Activity Diagram</vt:lpstr>
      <vt:lpstr>Component Diagram</vt:lpstr>
      <vt:lpstr>Deployment Diagram</vt:lpstr>
      <vt:lpstr>Result Analysis</vt:lpstr>
      <vt:lpstr>Frontend Integration</vt:lpstr>
      <vt:lpstr>Tools &amp; Technologies</vt:lpstr>
      <vt:lpstr>Conclusion</vt:lpstr>
      <vt:lpstr>References</vt:lpstr>
      <vt:lpstr>Project Demonstration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Project Presentation​ On​ ‘Coffee Ghar: Conversational Coffee Ordering Chatbot with Smart Recommendations’</dc:title>
  <dc:creator>Microsoft account</dc:creator>
  <cp:lastModifiedBy>Microsoft account</cp:lastModifiedBy>
  <cp:revision>60</cp:revision>
  <dcterms:created xsi:type="dcterms:W3CDTF">2025-07-17T04:14:59Z</dcterms:created>
  <dcterms:modified xsi:type="dcterms:W3CDTF">2025-09-16T07:35:58Z</dcterms:modified>
</cp:coreProperties>
</file>